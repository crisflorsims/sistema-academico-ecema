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3541" r:id="rId2"/>
    <p:sldId id="560" r:id="rId3"/>
    <p:sldId id="3543" r:id="rId4"/>
    <p:sldId id="3544" r:id="rId5"/>
    <p:sldId id="3545" r:id="rId6"/>
    <p:sldId id="3547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115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3035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BO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ACADÉMICO ECEMA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FUERZA AÉREA BOLIVIANA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pie de página 6"/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Agregue un pie de página</a:t>
            </a:r>
          </a:p>
        </p:txBody>
      </p:sp>
      <p:sp>
        <p:nvSpPr>
          <p:cNvPr id="8" name="Marcador de número de diapositiva 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4B73C415-D670-4716-A5EC-CC4D52CA2BA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677172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51737-CC78-209F-CF88-F743679E7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1620B-993A-C9FC-E4CD-4836D4D5A7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defTabSz="685800">
              <a:defRPr/>
            </a:pPr>
            <a:fld id="{4B73C415-D670-4716-A5EC-CC4D52CA2BAC}" type="slidenum">
              <a:rPr lang="es-ES" sz="900">
                <a:solidFill>
                  <a:prstClr val="black">
                    <a:tint val="75000"/>
                  </a:prstClr>
                </a:solidFill>
                <a:latin typeface="Arial"/>
              </a:rPr>
              <a:pPr algn="r" defTabSz="685800">
                <a:defRPr/>
              </a:pPr>
              <a:t>1</a:t>
            </a:fld>
            <a:endParaRPr lang="es-ES" sz="900" dirty="0">
              <a:solidFill>
                <a:prstClr val="black">
                  <a:tint val="75000"/>
                </a:prstClr>
              </a:solidFill>
              <a:latin typeface="Arial"/>
            </a:endParaRPr>
          </a:p>
        </p:txBody>
      </p:sp>
      <p:sp>
        <p:nvSpPr>
          <p:cNvPr id="13" name="5 Placa">
            <a:extLst>
              <a:ext uri="{FF2B5EF4-FFF2-40B4-BE49-F238E27FC236}">
                <a16:creationId xmlns:a16="http://schemas.microsoft.com/office/drawing/2014/main" id="{3DAAD941-437D-3650-A142-3F0F788FBA9D}"/>
              </a:ext>
            </a:extLst>
          </p:cNvPr>
          <p:cNvSpPr/>
          <p:nvPr/>
        </p:nvSpPr>
        <p:spPr>
          <a:xfrm>
            <a:off x="953929" y="100965"/>
            <a:ext cx="7329964" cy="680085"/>
          </a:xfrm>
          <a:prstGeom prst="plaque">
            <a:avLst/>
          </a:prstGeom>
          <a:solidFill>
            <a:srgbClr val="002060"/>
          </a:solidFill>
          <a:ln>
            <a:noFill/>
          </a:ln>
          <a:effectLst>
            <a:glow rad="228600">
              <a:schemeClr val="bg1">
                <a:lumMod val="8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s-E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 eaLnBrk="1" hangingPunct="1">
              <a:defRPr/>
            </a:pPr>
            <a:endParaRPr lang="es-ES" sz="2700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685800" eaLnBrk="1" hangingPunct="1">
              <a:defRPr/>
            </a:pPr>
            <a:r>
              <a:rPr lang="es-ES" sz="24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ESCUELA DE COMANDO Y ESTADO MAYOR AÉREO</a:t>
            </a:r>
          </a:p>
          <a:p>
            <a:pPr algn="ctr" defTabSz="685800" eaLnBrk="1" hangingPunct="1">
              <a:defRPr/>
            </a:pPr>
            <a:r>
              <a:rPr lang="en-US" sz="27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ES" sz="27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3 Imagen" descr="GALLINETA FAB.jpg">
            <a:extLst>
              <a:ext uri="{FF2B5EF4-FFF2-40B4-BE49-F238E27FC236}">
                <a16:creationId xmlns:a16="http://schemas.microsoft.com/office/drawing/2014/main" id="{7D8BAADF-A3E3-1755-589C-940A9D8FF79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7145" y="38577"/>
            <a:ext cx="936784" cy="731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Imagen 1" descr="D:\ECEMA 2013\logotipos\ECEMA.jpg">
            <a:extLst>
              <a:ext uri="{FF2B5EF4-FFF2-40B4-BE49-F238E27FC236}">
                <a16:creationId xmlns:a16="http://schemas.microsoft.com/office/drawing/2014/main" id="{77F0D824-76BB-0D71-09F3-7E778C920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882" y="1065583"/>
            <a:ext cx="3240056" cy="31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5 Placa">
            <a:extLst>
              <a:ext uri="{FF2B5EF4-FFF2-40B4-BE49-F238E27FC236}">
                <a16:creationId xmlns:a16="http://schemas.microsoft.com/office/drawing/2014/main" id="{795379E7-D5F8-8A98-A8BA-D83ED472EE38}"/>
              </a:ext>
            </a:extLst>
          </p:cNvPr>
          <p:cNvSpPr/>
          <p:nvPr/>
        </p:nvSpPr>
        <p:spPr>
          <a:xfrm>
            <a:off x="1349112" y="4253307"/>
            <a:ext cx="6539593" cy="680085"/>
          </a:xfrm>
          <a:prstGeom prst="plaque">
            <a:avLst/>
          </a:prstGeom>
          <a:solidFill>
            <a:srgbClr val="002060"/>
          </a:solidFill>
          <a:ln>
            <a:noFill/>
          </a:ln>
          <a:effectLst>
            <a:glow rad="228600">
              <a:schemeClr val="bg1">
                <a:lumMod val="8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s-E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 eaLnBrk="1" hangingPunct="1">
              <a:defRPr/>
            </a:pPr>
            <a:endParaRPr lang="es-ES" sz="2700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685800" eaLnBrk="1" hangingPunct="1">
              <a:defRPr/>
            </a:pPr>
            <a:r>
              <a:rPr lang="en-US" sz="27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ES" sz="27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6570188-CB5B-07FF-D458-9AA854FD9879}"/>
              </a:ext>
            </a:extLst>
          </p:cNvPr>
          <p:cNvSpPr/>
          <p:nvPr/>
        </p:nvSpPr>
        <p:spPr>
          <a:xfrm>
            <a:off x="1624311" y="4344374"/>
            <a:ext cx="6160661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7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 DE </a:t>
            </a:r>
            <a:r>
              <a:rPr lang="en-US" sz="2700" b="1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GESTIÓN</a:t>
            </a:r>
            <a:r>
              <a:rPr lang="en-US" sz="27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700" b="1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ACADÉMICO</a:t>
            </a:r>
            <a:endParaRPr lang="en-US" sz="27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C735279-3930-6A14-5100-E5D225624E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2645" y="38576"/>
            <a:ext cx="1001355" cy="1769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249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4B73C415-D670-4716-A5EC-CC4D52CA2BAC}" type="slidenum">
              <a:rPr lang="es-ES" noProof="0" smtClean="0"/>
              <a:t>2</a:t>
            </a:fld>
            <a:endParaRPr lang="es-ES" noProof="0" dirty="0"/>
          </a:p>
        </p:txBody>
      </p:sp>
      <p:sp>
        <p:nvSpPr>
          <p:cNvPr id="13" name="5 Placa"/>
          <p:cNvSpPr/>
          <p:nvPr/>
        </p:nvSpPr>
        <p:spPr>
          <a:xfrm>
            <a:off x="953929" y="100965"/>
            <a:ext cx="7329964" cy="680085"/>
          </a:xfrm>
          <a:prstGeom prst="plaque">
            <a:avLst/>
          </a:prstGeom>
          <a:solidFill>
            <a:srgbClr val="002060"/>
          </a:solidFill>
          <a:ln>
            <a:noFill/>
          </a:ln>
          <a:effectLst>
            <a:glow rad="228600">
              <a:schemeClr val="bg1">
                <a:lumMod val="8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s-E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eaLnBrk="1" hangingPunct="1">
              <a:defRPr/>
            </a:pPr>
            <a:r>
              <a:rPr lang="en-US" sz="2700" b="1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OBJETIVOS</a:t>
            </a:r>
            <a:r>
              <a:rPr lang="en-US" sz="27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DEL SISTEMA </a:t>
            </a:r>
            <a:endParaRPr lang="es-ES" sz="27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3 Imagen" descr="GALLINETA FAB.jp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7145" y="38577"/>
            <a:ext cx="936784" cy="731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1411361" y="1065997"/>
            <a:ext cx="6433228" cy="30187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just">
              <a:spcBef>
                <a:spcPts val="450"/>
              </a:spcBef>
              <a:spcAft>
                <a:spcPts val="450"/>
              </a:spcAft>
            </a:pPr>
            <a:r>
              <a:rPr lang="es-ES" sz="165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Digitalización Absoluta:</a:t>
            </a:r>
          </a:p>
          <a:p>
            <a:pPr algn="just">
              <a:spcBef>
                <a:spcPts val="450"/>
              </a:spcBef>
              <a:spcAft>
                <a:spcPts val="450"/>
              </a:spcAft>
            </a:pPr>
            <a:r>
              <a:rPr lang="es-ES" sz="165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Transición de planillas físicas a una plataforma web segura y auditada. </a:t>
            </a:r>
          </a:p>
          <a:p>
            <a:pPr algn="just">
              <a:spcBef>
                <a:spcPts val="450"/>
              </a:spcBef>
              <a:spcAft>
                <a:spcPts val="450"/>
              </a:spcAft>
            </a:pPr>
            <a:r>
              <a:rPr lang="es-ES" sz="165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Centralización de Datos:</a:t>
            </a:r>
          </a:p>
          <a:p>
            <a:pPr algn="just">
              <a:spcBef>
                <a:spcPts val="450"/>
              </a:spcBef>
              <a:spcAft>
                <a:spcPts val="450"/>
              </a:spcAft>
            </a:pPr>
            <a:r>
              <a:rPr lang="es-ES" sz="165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Un único sistema para Administradores, Docentes, Evaluadores y Estudiantes.</a:t>
            </a:r>
          </a:p>
          <a:p>
            <a:pPr algn="just">
              <a:spcBef>
                <a:spcPts val="450"/>
              </a:spcBef>
              <a:spcAft>
                <a:spcPts val="450"/>
              </a:spcAft>
            </a:pPr>
            <a:r>
              <a:rPr lang="es-ES" sz="165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Adaptabilidad Institucional:</a:t>
            </a:r>
          </a:p>
          <a:p>
            <a:pPr algn="just">
              <a:spcBef>
                <a:spcPts val="450"/>
              </a:spcBef>
              <a:spcAft>
                <a:spcPts val="450"/>
              </a:spcAft>
            </a:pPr>
            <a:r>
              <a:rPr lang="es-ES" sz="165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Soporte para diferentes diplomados (</a:t>
            </a:r>
            <a:r>
              <a:rPr lang="es-ES" sz="165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DCEMA</a:t>
            </a:r>
            <a:r>
              <a:rPr lang="es-ES" sz="165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165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DCEA</a:t>
            </a:r>
            <a:r>
              <a:rPr lang="es-ES" sz="165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con lógicas de ponderación independientes y escalables</a:t>
            </a:r>
            <a:r>
              <a:rPr lang="es-ES" sz="165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842" y="50902"/>
            <a:ext cx="796159" cy="7196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13B3D-1858-CE48-F7C9-E382F56ED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5 Placa">
            <a:extLst>
              <a:ext uri="{FF2B5EF4-FFF2-40B4-BE49-F238E27FC236}">
                <a16:creationId xmlns:a16="http://schemas.microsoft.com/office/drawing/2014/main" id="{E26C19AE-3F68-5DB4-712D-A01F7E0C8AFE}"/>
              </a:ext>
            </a:extLst>
          </p:cNvPr>
          <p:cNvSpPr/>
          <p:nvPr/>
        </p:nvSpPr>
        <p:spPr>
          <a:xfrm>
            <a:off x="953929" y="100965"/>
            <a:ext cx="7329964" cy="680085"/>
          </a:xfrm>
          <a:prstGeom prst="plaque">
            <a:avLst/>
          </a:prstGeom>
          <a:solidFill>
            <a:srgbClr val="002060"/>
          </a:solidFill>
          <a:ln>
            <a:noFill/>
          </a:ln>
          <a:effectLst>
            <a:glow rad="228600">
              <a:schemeClr val="bg1">
                <a:lumMod val="8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s-E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eaLnBrk="1" hangingPunct="1">
              <a:defRPr/>
            </a:pPr>
            <a:r>
              <a:rPr lang="en-US" sz="2700" b="1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TECNOLOGÍAS</a:t>
            </a:r>
            <a:endParaRPr lang="es-ES" sz="27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3 Imagen" descr="GALLINETA FAB.jpg">
            <a:extLst>
              <a:ext uri="{FF2B5EF4-FFF2-40B4-BE49-F238E27FC236}">
                <a16:creationId xmlns:a16="http://schemas.microsoft.com/office/drawing/2014/main" id="{45757524-4EF5-65BC-2A10-E27FBB71CCD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7145" y="38577"/>
            <a:ext cx="936784" cy="731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080E635-B159-D32F-73C7-AE83B3894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842" y="50902"/>
            <a:ext cx="796159" cy="719671"/>
          </a:xfrm>
          <a:prstGeom prst="rect">
            <a:avLst/>
          </a:prstGeom>
        </p:spPr>
      </p:pic>
      <p:sp>
        <p:nvSpPr>
          <p:cNvPr id="21" name="Text 0">
            <a:extLst>
              <a:ext uri="{FF2B5EF4-FFF2-40B4-BE49-F238E27FC236}">
                <a16:creationId xmlns:a16="http://schemas.microsoft.com/office/drawing/2014/main" id="{845F7ADA-FB24-901F-6ACB-885EE8994FDC}"/>
              </a:ext>
            </a:extLst>
          </p:cNvPr>
          <p:cNvSpPr/>
          <p:nvPr/>
        </p:nvSpPr>
        <p:spPr>
          <a:xfrm>
            <a:off x="609600" y="1066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E293B"/>
                </a:solidFill>
              </a:rPr>
              <a:t>STACK TECNOLÓGICO:  </a:t>
            </a:r>
            <a:r>
              <a:rPr lang="en-US" sz="1200" b="1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LENGUAJE DE PROGRAMACIÓN </a:t>
            </a:r>
            <a:r>
              <a:rPr lang="es-BO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TypeScript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75D95E74-CB0D-DEAF-C427-B76BB548821E}"/>
              </a:ext>
            </a:extLst>
          </p:cNvPr>
          <p:cNvSpPr/>
          <p:nvPr/>
        </p:nvSpPr>
        <p:spPr>
          <a:xfrm>
            <a:off x="609600" y="1798320"/>
            <a:ext cx="3840480" cy="2926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472E64B1-D591-A6F9-9871-484291602A20}"/>
              </a:ext>
            </a:extLst>
          </p:cNvPr>
          <p:cNvSpPr/>
          <p:nvPr/>
        </p:nvSpPr>
        <p:spPr>
          <a:xfrm>
            <a:off x="609600" y="1981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FRONTEND</a:t>
            </a:r>
            <a:endParaRPr lang="en-US" sz="1600" dirty="0"/>
          </a:p>
        </p:txBody>
      </p:sp>
      <p:pic>
        <p:nvPicPr>
          <p:cNvPr id="24" name="Image 0" descr="react.png">
            <a:extLst>
              <a:ext uri="{FF2B5EF4-FFF2-40B4-BE49-F238E27FC236}">
                <a16:creationId xmlns:a16="http://schemas.microsoft.com/office/drawing/2014/main" id="{1352739D-EC2D-63A9-0D22-8AE5FD5F0A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920" y="2529840"/>
            <a:ext cx="731520" cy="731520"/>
          </a:xfrm>
          <a:prstGeom prst="rect">
            <a:avLst/>
          </a:prstGeom>
        </p:spPr>
      </p:pic>
      <p:sp>
        <p:nvSpPr>
          <p:cNvPr id="25" name="Text 3">
            <a:extLst>
              <a:ext uri="{FF2B5EF4-FFF2-40B4-BE49-F238E27FC236}">
                <a16:creationId xmlns:a16="http://schemas.microsoft.com/office/drawing/2014/main" id="{31984B7D-DBA6-32DA-C372-259B5DE6865F}"/>
              </a:ext>
            </a:extLst>
          </p:cNvPr>
          <p:cNvSpPr/>
          <p:nvPr/>
        </p:nvSpPr>
        <p:spPr>
          <a:xfrm>
            <a:off x="1798320" y="25298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React.js (Librería UI Principal)</a:t>
            </a:r>
            <a:endParaRPr lang="en-US" sz="1400" dirty="0"/>
          </a:p>
        </p:txBody>
      </p:sp>
      <p:pic>
        <p:nvPicPr>
          <p:cNvPr id="26" name="Image 1" descr="tailwind.png">
            <a:extLst>
              <a:ext uri="{FF2B5EF4-FFF2-40B4-BE49-F238E27FC236}">
                <a16:creationId xmlns:a16="http://schemas.microsoft.com/office/drawing/2014/main" id="{BEDFA30B-9856-5832-2057-A3EC77D66F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920" y="3444240"/>
            <a:ext cx="731520" cy="731520"/>
          </a:xfrm>
          <a:prstGeom prst="rect">
            <a:avLst/>
          </a:prstGeom>
        </p:spPr>
      </p:pic>
      <p:sp>
        <p:nvSpPr>
          <p:cNvPr id="27" name="Text 4">
            <a:extLst>
              <a:ext uri="{FF2B5EF4-FFF2-40B4-BE49-F238E27FC236}">
                <a16:creationId xmlns:a16="http://schemas.microsoft.com/office/drawing/2014/main" id="{BF80C75B-21B0-1805-A050-DCFA6122AAB4}"/>
              </a:ext>
            </a:extLst>
          </p:cNvPr>
          <p:cNvSpPr/>
          <p:nvPr/>
        </p:nvSpPr>
        <p:spPr>
          <a:xfrm>
            <a:off x="1798320" y="33528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Tailwind CSS (Estilos Modernos)</a:t>
            </a:r>
            <a:endParaRPr lang="en-US" sz="1400" dirty="0"/>
          </a:p>
        </p:txBody>
      </p:sp>
      <p:sp>
        <p:nvSpPr>
          <p:cNvPr id="28" name="Shape 5">
            <a:extLst>
              <a:ext uri="{FF2B5EF4-FFF2-40B4-BE49-F238E27FC236}">
                <a16:creationId xmlns:a16="http://schemas.microsoft.com/office/drawing/2014/main" id="{A70A4539-25EF-A265-EEA9-895254AA84FB}"/>
              </a:ext>
            </a:extLst>
          </p:cNvPr>
          <p:cNvSpPr/>
          <p:nvPr/>
        </p:nvSpPr>
        <p:spPr>
          <a:xfrm>
            <a:off x="4907280" y="1798320"/>
            <a:ext cx="3840480" cy="2926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E56BC73C-B9E4-6FA6-DC45-8D7048D6AFF1}"/>
              </a:ext>
            </a:extLst>
          </p:cNvPr>
          <p:cNvSpPr/>
          <p:nvPr/>
        </p:nvSpPr>
        <p:spPr>
          <a:xfrm>
            <a:off x="4907280" y="1981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BACKEND &amp; DB</a:t>
            </a:r>
            <a:endParaRPr lang="en-US" sz="1600" dirty="0"/>
          </a:p>
        </p:txBody>
      </p:sp>
      <p:pic>
        <p:nvPicPr>
          <p:cNvPr id="30" name="Image 2" descr="node.png">
            <a:extLst>
              <a:ext uri="{FF2B5EF4-FFF2-40B4-BE49-F238E27FC236}">
                <a16:creationId xmlns:a16="http://schemas.microsoft.com/office/drawing/2014/main" id="{D1FB6C65-CC00-04C7-5ADE-0DCB4E5C61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1600" y="2529840"/>
            <a:ext cx="731520" cy="731520"/>
          </a:xfrm>
          <a:prstGeom prst="rect">
            <a:avLst/>
          </a:prstGeom>
        </p:spPr>
      </p:pic>
      <p:sp>
        <p:nvSpPr>
          <p:cNvPr id="31" name="Text 7">
            <a:extLst>
              <a:ext uri="{FF2B5EF4-FFF2-40B4-BE49-F238E27FC236}">
                <a16:creationId xmlns:a16="http://schemas.microsoft.com/office/drawing/2014/main" id="{E2284936-6FC8-BBEB-71D8-F3FC883E0807}"/>
              </a:ext>
            </a:extLst>
          </p:cNvPr>
          <p:cNvSpPr/>
          <p:nvPr/>
        </p:nvSpPr>
        <p:spPr>
          <a:xfrm>
            <a:off x="6278880" y="25298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Node.js &amp; Express (API)</a:t>
            </a:r>
            <a:endParaRPr lang="en-US" sz="1400" dirty="0"/>
          </a:p>
        </p:txBody>
      </p:sp>
      <p:pic>
        <p:nvPicPr>
          <p:cNvPr id="32" name="Image 3" descr="postgres.png">
            <a:extLst>
              <a:ext uri="{FF2B5EF4-FFF2-40B4-BE49-F238E27FC236}">
                <a16:creationId xmlns:a16="http://schemas.microsoft.com/office/drawing/2014/main" id="{E18E3C4F-74CE-FA5F-AEAE-0BED17BA0C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3040" y="3352800"/>
            <a:ext cx="731520" cy="731520"/>
          </a:xfrm>
          <a:prstGeom prst="rect">
            <a:avLst/>
          </a:prstGeom>
        </p:spPr>
      </p:pic>
      <p:sp>
        <p:nvSpPr>
          <p:cNvPr id="33" name="Text 8">
            <a:extLst>
              <a:ext uri="{FF2B5EF4-FFF2-40B4-BE49-F238E27FC236}">
                <a16:creationId xmlns:a16="http://schemas.microsoft.com/office/drawing/2014/main" id="{EFDED872-559A-C6E7-6DA1-5076D404DECD}"/>
              </a:ext>
            </a:extLst>
          </p:cNvPr>
          <p:cNvSpPr/>
          <p:nvPr/>
        </p:nvSpPr>
        <p:spPr>
          <a:xfrm>
            <a:off x="6278880" y="33528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PostgreSQL (Base de Datos)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45559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23A4C-E046-9AC0-C0BA-A48DD8771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5 Placa">
            <a:extLst>
              <a:ext uri="{FF2B5EF4-FFF2-40B4-BE49-F238E27FC236}">
                <a16:creationId xmlns:a16="http://schemas.microsoft.com/office/drawing/2014/main" id="{C3ED79DE-55B7-17FA-B96C-E8B8BE58373B}"/>
              </a:ext>
            </a:extLst>
          </p:cNvPr>
          <p:cNvSpPr/>
          <p:nvPr/>
        </p:nvSpPr>
        <p:spPr>
          <a:xfrm>
            <a:off x="953929" y="100965"/>
            <a:ext cx="7329964" cy="680085"/>
          </a:xfrm>
          <a:prstGeom prst="plaque">
            <a:avLst/>
          </a:prstGeom>
          <a:solidFill>
            <a:srgbClr val="002060"/>
          </a:solidFill>
          <a:ln>
            <a:noFill/>
          </a:ln>
          <a:effectLst>
            <a:glow rad="228600">
              <a:schemeClr val="bg1">
                <a:lumMod val="8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s-E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eaLnBrk="1" hangingPunct="1">
              <a:defRPr/>
            </a:pPr>
            <a:r>
              <a:rPr lang="en-US" sz="2700" b="1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TECNOLOGÍAS</a:t>
            </a:r>
            <a:endParaRPr lang="es-ES" sz="27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3 Imagen" descr="GALLINETA FAB.jpg">
            <a:extLst>
              <a:ext uri="{FF2B5EF4-FFF2-40B4-BE49-F238E27FC236}">
                <a16:creationId xmlns:a16="http://schemas.microsoft.com/office/drawing/2014/main" id="{22C62CE4-F253-4D23-1F6B-80C04DC6A79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7145" y="38577"/>
            <a:ext cx="936784" cy="731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4925183-3748-4090-B9AF-810205D06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842" y="50902"/>
            <a:ext cx="796159" cy="719671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F3CA3CDB-342B-849B-C9DD-D06B9184DAEE}"/>
              </a:ext>
            </a:extLst>
          </p:cNvPr>
          <p:cNvSpPr/>
          <p:nvPr/>
        </p:nvSpPr>
        <p:spPr>
          <a:xfrm>
            <a:off x="383183" y="110163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ESQUEMA GRÁFICO DE LA BASE DE DATOS</a:t>
            </a:r>
            <a:endParaRPr lang="en-US" sz="2400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0CDFD923-B1A8-50C9-CB3B-974DF448BEDF}"/>
              </a:ext>
            </a:extLst>
          </p:cNvPr>
          <p:cNvSpPr/>
          <p:nvPr/>
        </p:nvSpPr>
        <p:spPr>
          <a:xfrm>
            <a:off x="383183" y="1833158"/>
            <a:ext cx="2286000" cy="109728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51BDFBAA-019A-4483-A716-0F3FD050750D}"/>
              </a:ext>
            </a:extLst>
          </p:cNvPr>
          <p:cNvSpPr/>
          <p:nvPr/>
        </p:nvSpPr>
        <p:spPr>
          <a:xfrm>
            <a:off x="383183" y="1833158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40AF"/>
                </a:solidFill>
              </a:rPr>
              <a:t>👤 USUARIOS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40AF"/>
                </a:solidFill>
              </a:rPr>
              <a:t>(Admin, Docente, Evaluador, Estudiante)</a:t>
            </a:r>
            <a:endParaRPr lang="en-US" sz="120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39C66D52-865D-1C87-C960-79DBBBC6D0A3}"/>
              </a:ext>
            </a:extLst>
          </p:cNvPr>
          <p:cNvSpPr/>
          <p:nvPr/>
        </p:nvSpPr>
        <p:spPr>
          <a:xfrm>
            <a:off x="3583583" y="1833158"/>
            <a:ext cx="2286000" cy="109728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8DC2DADC-2F9B-6228-D36D-44F104969BD5}"/>
              </a:ext>
            </a:extLst>
          </p:cNvPr>
          <p:cNvSpPr/>
          <p:nvPr/>
        </p:nvSpPr>
        <p:spPr>
          <a:xfrm>
            <a:off x="3583583" y="1833158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400E"/>
                </a:solidFill>
              </a:rPr>
              <a:t>📚 DIPLOMADOS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92400E"/>
                </a:solidFill>
              </a:rPr>
              <a:t>(DCEA / DCEMA)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92400E"/>
                </a:solidFill>
              </a:rPr>
              <a:t>Periodos y Ediciones</a:t>
            </a:r>
            <a:endParaRPr lang="en-US" sz="1200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4DD3868C-4B51-DD07-1A3E-9D2C1BA5127B}"/>
              </a:ext>
            </a:extLst>
          </p:cNvPr>
          <p:cNvSpPr/>
          <p:nvPr/>
        </p:nvSpPr>
        <p:spPr>
          <a:xfrm>
            <a:off x="1937663" y="3844838"/>
            <a:ext cx="2286000" cy="1097280"/>
          </a:xfrm>
          <a:prstGeom prst="roundRect">
            <a:avLst/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90C4256B-8362-EC15-09CA-46ECDBFFC5F1}"/>
              </a:ext>
            </a:extLst>
          </p:cNvPr>
          <p:cNvSpPr/>
          <p:nvPr/>
        </p:nvSpPr>
        <p:spPr>
          <a:xfrm>
            <a:off x="1937663" y="3844838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F46"/>
                </a:solidFill>
              </a:rPr>
              <a:t>📝 INSCRIPCIÓN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65F46"/>
                </a:solidFill>
              </a:rPr>
              <a:t>Une al Estudiante con el Diplomado. Guarda "Ponderaciones Finales" en JSON</a:t>
            </a:r>
            <a:endParaRPr lang="en-US" sz="11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C6142C33-A933-DB1D-E66E-00F76ADDC6F8}"/>
              </a:ext>
            </a:extLst>
          </p:cNvPr>
          <p:cNvSpPr/>
          <p:nvPr/>
        </p:nvSpPr>
        <p:spPr>
          <a:xfrm>
            <a:off x="6555383" y="1833158"/>
            <a:ext cx="2286000" cy="109728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EFC402D2-F282-B2AC-1637-D8DDD0F6BF8B}"/>
              </a:ext>
            </a:extLst>
          </p:cNvPr>
          <p:cNvSpPr/>
          <p:nvPr/>
        </p:nvSpPr>
        <p:spPr>
          <a:xfrm>
            <a:off x="6669683" y="1833158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1B1B"/>
                </a:solidFill>
              </a:rPr>
              <a:t>📘 MATERIAS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991B1B"/>
                </a:solidFill>
              </a:rPr>
              <a:t>Asignadas a Docentes y Evaluadores</a:t>
            </a:r>
            <a:endParaRPr lang="en-US" sz="12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4FACD56B-5FE0-1E4B-66A2-41E5E8E0FA43}"/>
              </a:ext>
            </a:extLst>
          </p:cNvPr>
          <p:cNvSpPr/>
          <p:nvPr/>
        </p:nvSpPr>
        <p:spPr>
          <a:xfrm>
            <a:off x="5151125" y="3844838"/>
            <a:ext cx="2286000" cy="1097280"/>
          </a:xfrm>
          <a:prstGeom prst="roundRect">
            <a:avLst/>
          </a:prstGeom>
          <a:solidFill>
            <a:srgbClr val="E0E7FF"/>
          </a:solidFill>
          <a:ln w="254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s-BO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B2CFF219-FEEB-BC7D-8510-CC3C8725EB47}"/>
              </a:ext>
            </a:extLst>
          </p:cNvPr>
          <p:cNvSpPr/>
          <p:nvPr/>
        </p:nvSpPr>
        <p:spPr>
          <a:xfrm>
            <a:off x="5151125" y="3844838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30A3"/>
                </a:solidFill>
              </a:rPr>
              <a:t>📊 CALIFICACIONES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730A3"/>
                </a:solidFill>
              </a:rPr>
              <a:t>(1er Parcial, 2do Parcial, Final, Apreciación)</a:t>
            </a:r>
            <a:endParaRPr lang="en-US" sz="1100" dirty="0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F7E68815-BCFC-2C76-2F3A-25FE2793E35B}"/>
              </a:ext>
            </a:extLst>
          </p:cNvPr>
          <p:cNvSpPr/>
          <p:nvPr/>
        </p:nvSpPr>
        <p:spPr>
          <a:xfrm>
            <a:off x="2669183" y="2381798"/>
            <a:ext cx="9144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s-BO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19C36933-9A7A-FA90-AC08-F089A9AD9DD7}"/>
              </a:ext>
            </a:extLst>
          </p:cNvPr>
          <p:cNvSpPr/>
          <p:nvPr/>
        </p:nvSpPr>
        <p:spPr>
          <a:xfrm>
            <a:off x="1526183" y="2930438"/>
            <a:ext cx="457200" cy="9144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triangle"/>
          </a:ln>
        </p:spPr>
        <p:txBody>
          <a:bodyPr/>
          <a:lstStyle/>
          <a:p>
            <a:endParaRPr lang="es-BO"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D41C32D8-C6F0-0502-2EFF-351E9B0EB843}"/>
              </a:ext>
            </a:extLst>
          </p:cNvPr>
          <p:cNvSpPr/>
          <p:nvPr/>
        </p:nvSpPr>
        <p:spPr>
          <a:xfrm>
            <a:off x="4726583" y="2930438"/>
            <a:ext cx="0" cy="14630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triangle"/>
          </a:ln>
        </p:spPr>
        <p:txBody>
          <a:bodyPr/>
          <a:lstStyle/>
          <a:p>
            <a:endParaRPr lang="es-BO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FDD6981B-B214-7F7D-8464-E2460A563A90}"/>
              </a:ext>
            </a:extLst>
          </p:cNvPr>
          <p:cNvSpPr/>
          <p:nvPr/>
        </p:nvSpPr>
        <p:spPr>
          <a:xfrm>
            <a:off x="5869583" y="2381798"/>
            <a:ext cx="6858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8637503C-7ABD-DCA0-9576-530D663DB52E}"/>
              </a:ext>
            </a:extLst>
          </p:cNvPr>
          <p:cNvSpPr/>
          <p:nvPr/>
        </p:nvSpPr>
        <p:spPr>
          <a:xfrm>
            <a:off x="4223663" y="4393478"/>
            <a:ext cx="92746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s-BO"/>
          </a:p>
        </p:txBody>
      </p:sp>
      <p:sp>
        <p:nvSpPr>
          <p:cNvPr id="36" name="Shape 16">
            <a:extLst>
              <a:ext uri="{FF2B5EF4-FFF2-40B4-BE49-F238E27FC236}">
                <a16:creationId xmlns:a16="http://schemas.microsoft.com/office/drawing/2014/main" id="{E286AACA-4BD5-619C-AF75-E8342928DE65}"/>
              </a:ext>
            </a:extLst>
          </p:cNvPr>
          <p:cNvSpPr/>
          <p:nvPr/>
        </p:nvSpPr>
        <p:spPr>
          <a:xfrm flipH="1">
            <a:off x="7410998" y="2930438"/>
            <a:ext cx="391883" cy="91439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094541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3A849-9BA6-D4AE-001F-FBC475DC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5 Placa">
            <a:extLst>
              <a:ext uri="{FF2B5EF4-FFF2-40B4-BE49-F238E27FC236}">
                <a16:creationId xmlns:a16="http://schemas.microsoft.com/office/drawing/2014/main" id="{6DF6235B-CB50-8C38-339F-64AD870FFBD5}"/>
              </a:ext>
            </a:extLst>
          </p:cNvPr>
          <p:cNvSpPr/>
          <p:nvPr/>
        </p:nvSpPr>
        <p:spPr>
          <a:xfrm>
            <a:off x="953929" y="100965"/>
            <a:ext cx="7329964" cy="680085"/>
          </a:xfrm>
          <a:prstGeom prst="plaque">
            <a:avLst/>
          </a:prstGeom>
          <a:solidFill>
            <a:srgbClr val="002060"/>
          </a:solidFill>
          <a:ln>
            <a:noFill/>
          </a:ln>
          <a:effectLst>
            <a:glow rad="228600">
              <a:schemeClr val="bg1">
                <a:lumMod val="8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s-E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eaLnBrk="1" hangingPunct="1">
              <a:defRPr/>
            </a:pPr>
            <a:r>
              <a:rPr lang="en-US" sz="27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DISEÑO DE SOFTWARE</a:t>
            </a:r>
            <a:endParaRPr lang="es-ES" sz="27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3 Imagen" descr="GALLINETA FAB.jpg">
            <a:extLst>
              <a:ext uri="{FF2B5EF4-FFF2-40B4-BE49-F238E27FC236}">
                <a16:creationId xmlns:a16="http://schemas.microsoft.com/office/drawing/2014/main" id="{D5C448BA-6A90-54C0-2B63-67BDF98CD0C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7145" y="38577"/>
            <a:ext cx="936784" cy="731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8484285-B959-F88B-E40D-AB5D9B293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842" y="50902"/>
            <a:ext cx="796159" cy="719671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B25EBADE-1D40-3923-E95F-AAE43EEBF13F}"/>
              </a:ext>
            </a:extLst>
          </p:cNvPr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ARQUITECTURA DE SOFTWARE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DE61DCFC-AD26-BE6C-FB2A-F3DDAA971ED0}"/>
              </a:ext>
            </a:extLst>
          </p:cNvPr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Arquitectura Cliente-Servidor Desacoplada: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El frontend y el backend operan como proyectos separados que se comunican vía API REST. Esto garantiza que la plataforma sea escalable (ej. crear una App Móvil a futuro conectada a la misma API).
</a:t>
            </a:r>
            <a:r>
              <a:rPr lang="en-US" sz="16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Flexibilidad de Datos (JSON en SQL):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Las "Ponderaciones Finales" utilizan una columna híbrida (JSON) que permite que el DCEMA y el DCEA tengan distintas matrices de calificación (11 criterios vs 10) sin modificar las tablas estructurales de la base de datos.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lide Number Placeholder 0">
            <a:extLst>
              <a:ext uri="{FF2B5EF4-FFF2-40B4-BE49-F238E27FC236}">
                <a16:creationId xmlns:a16="http://schemas.microsoft.com/office/drawing/2014/main" id="{65065C7A-B72C-1C01-BAF7-813E6967FBC5}"/>
              </a:ext>
            </a:extLst>
          </p:cNvPr>
          <p:cNvSpPr txBox="1">
            <a:spLocks/>
          </p:cNvSpPr>
          <p:nvPr/>
        </p:nvSpPr>
        <p:spPr>
          <a:xfrm>
            <a:off x="822960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1200" kern="1200">
                <a:solidFill>
                  <a:srgbClr val="64748B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021451-1387-4CA6-816F-3879F97B5CBC}" type="slidenum">
              <a:rPr lang="en-US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5</a:t>
            </a:fld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54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3085B-25B1-BC7B-07E5-82195DD71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5 Placa">
            <a:extLst>
              <a:ext uri="{FF2B5EF4-FFF2-40B4-BE49-F238E27FC236}">
                <a16:creationId xmlns:a16="http://schemas.microsoft.com/office/drawing/2014/main" id="{1D8B5380-E402-3410-F690-7A606AF7C381}"/>
              </a:ext>
            </a:extLst>
          </p:cNvPr>
          <p:cNvSpPr/>
          <p:nvPr/>
        </p:nvSpPr>
        <p:spPr>
          <a:xfrm>
            <a:off x="953929" y="100965"/>
            <a:ext cx="7329964" cy="680085"/>
          </a:xfrm>
          <a:prstGeom prst="plaque">
            <a:avLst/>
          </a:prstGeom>
          <a:solidFill>
            <a:srgbClr val="002060"/>
          </a:solidFill>
          <a:ln>
            <a:noFill/>
          </a:ln>
          <a:effectLst>
            <a:glow rad="228600">
              <a:schemeClr val="bg1">
                <a:lumMod val="8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s-E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eaLnBrk="1" hangingPunct="1">
              <a:defRPr/>
            </a:pPr>
            <a:r>
              <a:rPr lang="en-US" sz="27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FUNCIONAMIENTO</a:t>
            </a:r>
            <a:endParaRPr lang="es-ES" sz="27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3 Imagen" descr="GALLINETA FAB.jpg">
            <a:extLst>
              <a:ext uri="{FF2B5EF4-FFF2-40B4-BE49-F238E27FC236}">
                <a16:creationId xmlns:a16="http://schemas.microsoft.com/office/drawing/2014/main" id="{B4053970-C5BC-84A7-6F13-AD2E7B13B1E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7145" y="38577"/>
            <a:ext cx="936784" cy="731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CF44BF1-5DDD-AC11-15E7-C90642CC4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842" y="50902"/>
            <a:ext cx="796159" cy="719671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C4A16567-0079-AB75-7DF8-88A0B104AA80}"/>
              </a:ext>
            </a:extLst>
          </p:cNvPr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FLUJO DE FUNCIONAMIENTO DEL SISTEMA</a:t>
            </a:r>
            <a:endParaRPr lang="en-US" sz="24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F69C2835-C17C-65B4-2ECF-6A4E8D7180B4}"/>
              </a:ext>
            </a:extLst>
          </p:cNvPr>
          <p:cNvSpPr/>
          <p:nvPr/>
        </p:nvSpPr>
        <p:spPr>
          <a:xfrm>
            <a:off x="914400" y="2286000"/>
            <a:ext cx="1645920" cy="914400"/>
          </a:xfrm>
          <a:prstGeom prst="rightArrow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BO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63B710A-B2C7-1713-FF6C-46E1226B0E56}"/>
              </a:ext>
            </a:extLst>
          </p:cNvPr>
          <p:cNvSpPr/>
          <p:nvPr/>
        </p:nvSpPr>
        <p:spPr>
          <a:xfrm>
            <a:off x="914400" y="22860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1. ADMIN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(Crea y Asigna)</a:t>
            </a:r>
            <a:endParaRPr lang="en-US" sz="12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82BE34FB-73DB-94DB-80BE-8DB4CAD2B6EF}"/>
              </a:ext>
            </a:extLst>
          </p:cNvPr>
          <p:cNvSpPr/>
          <p:nvPr/>
        </p:nvSpPr>
        <p:spPr>
          <a:xfrm>
            <a:off x="2926080" y="2286000"/>
            <a:ext cx="1645920" cy="914400"/>
          </a:xfrm>
          <a:prstGeom prst="rightArrow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BO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0ABB1FCC-2DC3-197A-BDEE-918C1CD96DF4}"/>
              </a:ext>
            </a:extLst>
          </p:cNvPr>
          <p:cNvSpPr/>
          <p:nvPr/>
        </p:nvSpPr>
        <p:spPr>
          <a:xfrm>
            <a:off x="2926080" y="22860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2. DOCENTE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(Sube Notas)</a:t>
            </a:r>
            <a:endParaRPr lang="en-US" sz="12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5E3CA98F-24D8-E2C4-3988-B4C35E8FD3DD}"/>
              </a:ext>
            </a:extLst>
          </p:cNvPr>
          <p:cNvSpPr/>
          <p:nvPr/>
        </p:nvSpPr>
        <p:spPr>
          <a:xfrm>
            <a:off x="4937760" y="2286000"/>
            <a:ext cx="1828800" cy="914400"/>
          </a:xfrm>
          <a:prstGeom prst="rightArrow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BO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A4F8F731-C621-DE14-5E86-BFDF2D97065D}"/>
              </a:ext>
            </a:extLst>
          </p:cNvPr>
          <p:cNvSpPr/>
          <p:nvPr/>
        </p:nvSpPr>
        <p:spPr>
          <a:xfrm>
            <a:off x="4937760" y="22860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3. EVALUADOR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(Centraliza DCEMA)</a:t>
            </a:r>
            <a:endParaRPr lang="en-US" sz="12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D231F435-EFBB-B3BD-CB18-45C90CC710E7}"/>
              </a:ext>
            </a:extLst>
          </p:cNvPr>
          <p:cNvSpPr/>
          <p:nvPr/>
        </p:nvSpPr>
        <p:spPr>
          <a:xfrm>
            <a:off x="7132320" y="2286000"/>
            <a:ext cx="1645920" cy="914400"/>
          </a:xfrm>
          <a:prstGeom prst="round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BO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F32866AE-C002-8C67-812E-6BFED5050807}"/>
              </a:ext>
            </a:extLst>
          </p:cNvPr>
          <p:cNvSpPr/>
          <p:nvPr/>
        </p:nvSpPr>
        <p:spPr>
          <a:xfrm>
            <a:off x="7132320" y="22860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4. ESTUDIANTE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(Revisa Libreta)</a:t>
            </a:r>
            <a:endParaRPr lang="en-US" sz="12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1CF4C93D-DBCF-7E30-B3E4-3C6E4B56EC82}"/>
              </a:ext>
            </a:extLst>
          </p:cNvPr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75569"/>
                </a:solidFill>
              </a:rPr>
              <a:t>El flujo está garantizado por un control de roles </a:t>
            </a:r>
            <a:r>
              <a:rPr lang="en-US" sz="1400" i="1" dirty="0" err="1">
                <a:solidFill>
                  <a:srgbClr val="475569"/>
                </a:solidFill>
              </a:rPr>
              <a:t>estricto</a:t>
            </a:r>
            <a:r>
              <a:rPr lang="en-US" sz="1400" i="1" dirty="0">
                <a:solidFill>
                  <a:srgbClr val="475569"/>
                </a:solidFill>
              </a:rPr>
              <a:t>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80285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</TotalTime>
  <Words>332</Words>
  <Application>Microsoft Office PowerPoint</Application>
  <PresentationFormat>Presentación en pantalla (16:9)</PresentationFormat>
  <Paragraphs>53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Fuerza Aérea Boliviana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del Sistema - Versión Visual</dc:title>
  <dc:subject>PptxGenJS Presentation</dc:subject>
  <dc:creator>Sistema ECEMA</dc:creator>
  <cp:lastModifiedBy>cristiam Flores Simon</cp:lastModifiedBy>
  <cp:revision>4</cp:revision>
  <dcterms:created xsi:type="dcterms:W3CDTF">2026-08-17T05:50:23Z</dcterms:created>
  <dcterms:modified xsi:type="dcterms:W3CDTF">2026-08-18T02:29:15Z</dcterms:modified>
</cp:coreProperties>
</file>